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VitalFit Q1 2026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6E8F7"/>
                </a:solidFill>
                <a:latin typeface="Calibri"/>
              </a:defRPr>
            </a:pPr>
            <a:r>
              <a:t>Quarterly Business Review  |  January -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7432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6E8F7"/>
                </a:solidFill>
                <a:latin typeface="Calibri"/>
              </a:defRPr>
            </a:pPr>
            <a:r>
              <a:t>Prepared by Zenith Media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Q1 Beat Q4 Across the Board -- And the Trajectory is Accelerating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ROAS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1.39</a:t>
            </a:r>
          </a:p>
          <a:p>
            <a:pPr algn="ctr">
              <a:defRPr sz="1200" b="1">
                <a:solidFill>
                  <a:srgbClr val="278B4C"/>
                </a:solidFill>
                <a:latin typeface="Calibri"/>
              </a:defRPr>
            </a:pPr>
            <a:r>
              <a:t>Up from 1.15 in Q4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TOTAL CONVERSIONS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7,520</a:t>
            </a:r>
          </a:p>
          <a:p>
            <a:pPr algn="ctr">
              <a:defRPr sz="1200" b="1">
                <a:solidFill>
                  <a:srgbClr val="278B4C"/>
                </a:solidFill>
                <a:latin typeface="Calibri"/>
              </a:defRPr>
            </a:pPr>
            <a:r>
              <a:t>+21% vs Q4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$482,400</a:t>
            </a:r>
          </a:p>
          <a:p>
            <a:pPr algn="ctr">
              <a:defRPr sz="1200" b="1">
                <a:solidFill>
                  <a:srgbClr val="278B4C"/>
                </a:solidFill>
                <a:latin typeface="Calibri"/>
              </a:defRPr>
            </a:pPr>
            <a:r>
              <a:t>On $348K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7160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BUDGET DELIVERY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96.7%</a:t>
            </a:r>
          </a:p>
          <a:p>
            <a:pPr algn="ctr">
              <a:defRPr sz="1200" b="1">
                <a:solidFill>
                  <a:srgbClr val="278B4C"/>
                </a:solidFill>
                <a:latin typeface="Calibri"/>
              </a:defRPr>
            </a:pPr>
            <a:r>
              <a:t>$348.2K of $360K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The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ROAS improved from 1.15 (Q4) to 1.39 (Q1) -- a 21% improvement driven by Google Search efficiency and a disciplined channel mix.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Monthly trajectory matters more than the average: January started at 1.20 ROAS, February hit 1.38, March closed at 1.52. The optimization is compounding.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Two standout findings require action: BC is significantly outperforming (1.82 ROAS) and is under-invested. Quebec remains below breakeven (0.98 ROAS) -- the creative localization promised in Q4 has not yet been deployed.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The Lookalike - High LTV audience segment is burning $65K at a 30 index. This is the single largest efficiency drag in the account and needs an immediate decision: rebuild or reallocate.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Google Search Is the Efficiency Engine; TikTok Is the Reach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Google Search: Highest ROAS in the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2.23 ROAS on $98K spend -- returning $2.23 for every $1 invested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3,120 conversions at $31.41 CPA -- the lowest cost-per-acquisition across all channels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15.1% share of voice in search, ahead of GlowLab (14.2%) but behind PureNutra (18.2%)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Recommendation: Increase search budget 10-15% in Q2 to capture share from PureNutra's PMAX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TikTok: Awareness at scale for pennies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6.8M impressions at $11.47 CPM -- 3x the reach of Meta at one-third the CPM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1.20 ROAS is at breakeven, but the role is upper-funnel awareness feeding Google Search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9.9% SOV vs FuelBody's 12% -- FuelBody is a new threat with a TikTok-first strategy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Recommendation: Test creator partnerships to match FuelBody's approach; measure lift to Google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Monthly Momentum: The Trajectory Is the Real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January: 1.20 ROAS, $50 CPA  --&gt;  February: 1.38 ROAS, $45.46 CPA  --&gt;  March: 1.52 ROAS, $44.33 CPA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Each month improved on the last. If March trends hold, Q2 projects to 1.6+ ROAS -- well above the 1.3 target.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This is the result of optimization discipline, not just market conditions. The improvements are in our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BC Is Outperforming Ontario and Getting Less Than Half the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BC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1.82 ROAS</a:t>
            </a:r>
          </a:p>
          <a:p>
            <a:pPr algn="ctr">
              <a:defRPr sz="1200" b="1">
                <a:solidFill>
                  <a:srgbClr val="278B4C"/>
                </a:solidFill>
                <a:latin typeface="Calibri"/>
              </a:defRPr>
            </a:pPr>
            <a:r>
              <a:t>$36.90 CPA | $62K spend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ONTARIO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1.55 ROAS</a:t>
            </a:r>
          </a:p>
          <a:p>
            <a:pPr algn="ctr">
              <a:defRPr sz="1200" b="1">
                <a:solidFill>
                  <a:srgbClr val="3A7CBD"/>
                </a:solidFill>
                <a:latin typeface="Calibri"/>
              </a:defRPr>
            </a:pPr>
            <a:r>
              <a:t>$42.65 CPA | $145K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ALBERTA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1.34 ROAS</a:t>
            </a:r>
          </a:p>
          <a:p>
            <a:pPr algn="ctr">
              <a:defRPr sz="1200" b="1">
                <a:solidFill>
                  <a:srgbClr val="3A7CBD"/>
                </a:solidFill>
                <a:latin typeface="Calibri"/>
              </a:defRPr>
            </a:pPr>
            <a:r>
              <a:t>$45.24 CPA | $38K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BC delivers 17% higher ROAS and 13% lower CPA than Ontario -- on less than half the budget. There is headroom to scale.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1,680 conversions from $62K is the most capital-efficient region in the portfolio.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Ontario remains the volume play ($145K, 3,400 conversions), but incremental dollars should flow to BC first.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Alberta is tracking to target at 1.34 ROAS -- maintain current allocation.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Prairies + Atlantic (1.12 ROAS, $53 CPA) is marginal but low-volume -- not worth pulling budget from, not worth adding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  <a:latin typeface="Calibri"/>
              </a:defRPr>
            </a:pPr>
            <a:r>
              <a:t>ACTION: Shift $15-20K from Ontario prospecting to BC in Q2. Test whether BC efficiency holds at higher spend.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Quebec Is Below Breakeven -- The Promised Creative Fix Has Not Shipped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QUEBEC ROAS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0.98</a:t>
            </a:r>
          </a:p>
          <a:p>
            <a:pPr algn="ctr">
              <a:defRPr sz="1200" b="1">
                <a:solidFill>
                  <a:srgbClr val="C0392B"/>
                </a:solidFill>
                <a:latin typeface="Calibri"/>
              </a:defRPr>
            </a:pPr>
            <a:r>
              <a:t>Below breakeven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37160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QUEBEC CPA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$68.33</a:t>
            </a:r>
          </a:p>
          <a:p>
            <a:pPr algn="ctr">
              <a:defRPr sz="1200" b="1">
                <a:solidFill>
                  <a:srgbClr val="C0392B"/>
                </a:solidFill>
                <a:latin typeface="Calibri"/>
              </a:defRPr>
            </a:pPr>
            <a:r>
              <a:t>47% above portfolio avg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37160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Q4 FLAG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Yes</a:t>
            </a:r>
          </a:p>
          <a:p>
            <a:pPr algn="ctr">
              <a:defRPr sz="1200" b="1">
                <a:solidFill>
                  <a:srgbClr val="D48B0A"/>
                </a:solidFill>
                <a:latin typeface="Calibri"/>
              </a:defRPr>
            </a:pPr>
            <a:r>
              <a:t>Localization was promised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The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Quebec represents $82K in spend (24% of regional budget) returning 0.98 ROAS -- we are losing money in this market.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$68.33 CPA is 47% above the portfolio average of $46.30. The gap is not small and it is not closing.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This was flagged in the Q4 deck. The Q4 recommendation was to refresh Quebec creative with French-language assets. That has not happened.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Without localized creative, we are running English-language ads in a French-first market. The performance gap is predictable.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Proposed Q2 Quebec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Week 1-2: Brief French-language creative agency. Produce 3 video + 5 static variants.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Week 3-4: Launch localized creative in test cell. A/B against current English assets.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Week 5-8: If CPA drops below $50, scale. If not, reduce Quebec budget 30% and reallocate to BC.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Gym Beginners Are the Dark Horse; Lookalike-High LTV Is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2743200"/>
          </a:xfrm>
          <a:prstGeom prst="rect">
            <a:avLst/>
          </a:prstGeom>
          <a:solidFill>
            <a:srgbClr val="27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8B4C"/>
                </a:solidFill>
                <a:latin typeface="Calibri"/>
              </a:defRPr>
            </a:pPr>
            <a:r>
              <a:t>Scale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Gym Beginners 18-24: 137 index, $33.85 CPA, 1,920 conversions on $65K. The best CPA in the portfolio and the highest indexing segment. This audience has untapped headroom.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Fitness Enthusiasts 25-34: 133 index, $35.00 CPA, 2,800 conversions on $98K. The proven workhorse -- continues to deliver volume at efficient cost.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Together these two segments drive 63% of all conversions at 29% below-average CPA.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73152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Fix or 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Lookalike - High LTV: 30 index, $155.24 CPA, 420 conversions on $65.2K. This segment is spending at the same level as Gym Beginners but delivering 78% fewer conversions at 4.6x the CPA.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Health-Conscious Parents 35-44: 90 index, $51.43 CPA, 1,400 conversions. Below average but not broken -- test creative refresh before pulling budget.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Lapsed Customers: 94 index, $48.98 CPA, 980 conversions. Near-average performance. Maintain and monitor.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  <a:latin typeface="Calibri"/>
              </a:defRPr>
            </a:pPr>
            <a:r>
              <a:t>ACTION: Pause Lookalike-High LTV immediately. Reallocate $65K to Gym Beginners and Fitness Enthusiasts (50/50 split). If Lookalike must continue, rebuild seed list from Q1 converters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FuelBody Is the New Threat -- They Are Outspending Us on TikTok 1.2:1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GlowLab Nutrition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Est. total Q1 spend: $341K across Meta, Search, TikTok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TikTok spend up 45% QoQ -- creator partnerships with 3 fitness influencers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Launched new protein line in Feb with heavy video push on Meta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Bidding aggressively on non-brand supplement search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PureNutra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Est. total Q1 spend: $288K across Meta, Search, TikTok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Pulled back Meta prospecting, shifted to retargeting (-5% QoQ)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Increased Shopping/PMAX investment (+12% QoQ) -- owns 18.2% search SOV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Testing TikTok for first time in Q1 at $28K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FuelBody Co [NEW ENTRANT]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Est. total Q1 spend: $173K -- DTC recovery supplements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TikTok-first: $95K on TikTok alone (12% SOV vs our 9.9%)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Viral unboxing content driving organic amplification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Meta spend up 22% -- expanding beyond TikTok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What This Means for VitalFit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Google Search: We hold 15.1% SOV vs PureNutra's 18.2%. Closing this gap is achievable with incremental budget -- search is our highest-ROAS channel.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TikTok: FuelBody is outspending us ($95K vs $78K) and gaining share with creator-led content. We need a creator strategy, not just paid media.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Meta: The market is shifting -- PureNutra pulling back prospecting while GlowLab invests in video. Our Meta ROAS (1.20) needs creative improvement to stay competitive.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Net: Our total category spend ($318K ex-CTV) is middle of the pack. The competitive advantage must come from efficiency and creative quality, not outspending.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CTV Delivered 2.1M Impressions at $14.38 CPM -- Conversion Measurement Still Pending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IMPRESSIONS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2.1M</a:t>
            </a:r>
          </a:p>
          <a:p>
            <a:pPr algn="ctr">
              <a:defRPr sz="1200" b="1">
                <a:solidFill>
                  <a:srgbClr val="3A7CBD"/>
                </a:solidFill>
                <a:latin typeface="Calibri"/>
              </a:defRPr>
            </a:pPr>
            <a:r>
              <a:t>$30.2K spend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CPM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$14.38</a:t>
            </a:r>
          </a:p>
          <a:p>
            <a:pPr algn="ctr">
              <a:defRPr sz="1200" b="1">
                <a:solidFill>
                  <a:srgbClr val="3A7CBD"/>
                </a:solidFill>
                <a:latin typeface="Calibri"/>
              </a:defRPr>
            </a:pPr>
            <a:r>
              <a:t>Competitive for CTV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71600"/>
            <a:ext cx="25603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CONVERSIONS</a:t>
            </a:r>
          </a:p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N/A</a:t>
            </a:r>
          </a:p>
          <a:p>
            <a:pPr algn="ctr">
              <a:defRPr sz="1200" b="1">
                <a:solidFill>
                  <a:srgbClr val="D48B0A"/>
                </a:solidFill>
                <a:latin typeface="Calibri"/>
              </a:defRPr>
            </a:pPr>
            <a:r>
              <a:t>No direct attribution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What We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$14.38 CPM is within the expected range for Canadian CTV inventory ($12-18 CPM). We are not overpaying for reach.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No click or conversion data is available -- CTV does not support direct response measurement. This was expected when the test was scoped.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Brand lift study is pending from the vendor. Results expected mid-April.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Anecdotally, branded search volume increased 8% during CTV flight periods, but this is not yet validated as causal.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6B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Continue CTV at current $30K/quarter while brand lift data comes in. Do not scale until measurement framework is validated.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Implement a branded search lift test in Q2: run CTV on/off in alternating 2-week windows and measure Google branded search volume delta.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Five Actions for Q2 -- Each With a Specific Expected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latin typeface="Calibri"/>
              </a:defRPr>
            </a:pPr>
            <a:r>
              <a:rPr b="1" sz="1400">
                <a:solidFill>
                  <a:srgbClr val="333333"/>
                </a:solidFill>
                <a:latin typeface="Calibri"/>
              </a:rPr>
              <a:t>1. Kill or rebuild Lookalike-High LTV audience:</a:t>
            </a:r>
            <a:r>
              <a:rPr sz="1400">
                <a:solidFill>
                  <a:srgbClr val="333333"/>
                </a:solidFill>
                <a:latin typeface="Calibri"/>
              </a:rPr>
              <a:t> Pause the segment immediately and reallocate $65K to Gym Beginners and Fitness Enthusiasts. Expected impact: recover ~1,200 conversions at $35 CPA vs. current 420 at $155 CPA.</a:t>
            </a:r>
          </a:p>
          <a:p>
            <a:pPr>
              <a:spcAft>
                <a:spcPts val="1600"/>
              </a:spcAft>
              <a:defRPr sz="1400">
                <a:latin typeface="Calibri"/>
              </a:defRPr>
            </a:pPr>
            <a:r>
              <a:rPr b="1" sz="1400">
                <a:solidFill>
                  <a:srgbClr val="333333"/>
                </a:solidFill>
                <a:latin typeface="Calibri"/>
              </a:rPr>
              <a:t>2. Ship French-language creative for Quebec:</a:t>
            </a:r>
            <a:r>
              <a:rPr sz="1400">
                <a:solidFill>
                  <a:srgbClr val="333333"/>
                </a:solidFill>
                <a:latin typeface="Calibri"/>
              </a:rPr>
              <a:t> Brief agency in Week 1, launch test in Week 3, evaluate at Week 5. If CPA drops below $50, scale; if not, cut Quebec budget 30%. Expected impact: improve Quebec ROAS from 0.98 to 1.3+ or save $25K.</a:t>
            </a:r>
          </a:p>
          <a:p>
            <a:pPr>
              <a:spcAft>
                <a:spcPts val="1600"/>
              </a:spcAft>
              <a:defRPr sz="1400">
                <a:latin typeface="Calibri"/>
              </a:defRPr>
            </a:pPr>
            <a:r>
              <a:rPr b="1" sz="1400">
                <a:solidFill>
                  <a:srgbClr val="333333"/>
                </a:solidFill>
                <a:latin typeface="Calibri"/>
              </a:rPr>
              <a:t>3. Increase BC investment by $15-20K:</a:t>
            </a:r>
            <a:r>
              <a:rPr sz="1400">
                <a:solidFill>
                  <a:srgbClr val="333333"/>
                </a:solidFill>
                <a:latin typeface="Calibri"/>
              </a:rPr>
              <a:t> Shift from Ontario prospecting budget. BC efficiency (1.82 ROAS, $36.90 CPA) suggests headroom. Expected impact: 400-550 incremental conversions at below-portfolio-average CPA.</a:t>
            </a:r>
          </a:p>
          <a:p>
            <a:pPr>
              <a:spcAft>
                <a:spcPts val="1600"/>
              </a:spcAft>
              <a:defRPr sz="1400">
                <a:latin typeface="Calibri"/>
              </a:defRPr>
            </a:pPr>
            <a:r>
              <a:rPr b="1" sz="1400">
                <a:solidFill>
                  <a:srgbClr val="333333"/>
                </a:solidFill>
                <a:latin typeface="Calibri"/>
              </a:rPr>
              <a:t>4. Launch TikTok creator partnerships:</a:t>
            </a:r>
            <a:r>
              <a:rPr sz="1400">
                <a:solidFill>
                  <a:srgbClr val="333333"/>
                </a:solidFill>
                <a:latin typeface="Calibri"/>
              </a:rPr>
              <a:t> Counter FuelBody's creator-first strategy. Budget $15K for 2-3 creator deals. Expected impact: improve TikTok SOV from 9.9% to 12%+ and test organic amplification.</a:t>
            </a:r>
          </a:p>
          <a:p>
            <a:pPr>
              <a:spcAft>
                <a:spcPts val="1600"/>
              </a:spcAft>
              <a:defRPr sz="1400">
                <a:latin typeface="Calibri"/>
              </a:defRPr>
            </a:pPr>
            <a:r>
              <a:rPr b="1" sz="1400">
                <a:solidFill>
                  <a:srgbClr val="333333"/>
                </a:solidFill>
                <a:latin typeface="Calibri"/>
              </a:rPr>
              <a:t>5. Implement CTV measurement framework:</a:t>
            </a:r>
            <a:r>
              <a:rPr sz="1400">
                <a:solidFill>
                  <a:srgbClr val="333333"/>
                </a:solidFill>
                <a:latin typeface="Calibri"/>
              </a:rPr>
              <a:t> Run branded search lift test with alternating 2-week on/off windows. Expected impact: data to make a scale-or-cut decision on CTV by end of Q2.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7CBD"/>
                </a:solidFill>
                <a:latin typeface="Calibri"/>
              </a:defRPr>
            </a:pPr>
            <a:r>
              <a:t>Total Q2 budget recommendation: $370K (up from $360K). Net reallocation, not net new spend, drives most of the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Appendix: Full Data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Channel Performance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685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6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$170,400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Google 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$98,000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1.85M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$218,400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$31.41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2.1M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$14.38 CPM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$348,200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14.95M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7,520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$482,400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$46.30</a:t>
                      </a:r>
                    </a:p>
                  </a:txBody>
                  <a:tcPr>
                    <a:solidFill>
                      <a:srgbClr val="D6E8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Regional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9319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243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Quebec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$82,000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$68.33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Alberta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$38,000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$45.24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Prairies+Atlantic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6B"/>
                </a:solidFill>
                <a:latin typeface="Calibri"/>
              </a:defRPr>
            </a:pPr>
            <a:r>
              <a:t>Audience Segments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931920"/>
          <a:ext cx="4114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438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Fitness Enth. 25-34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Gym Beginners 18-24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$33.85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Parents 35-44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Lapsed Customers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$48.98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Lookalike-High LTV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$155.24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